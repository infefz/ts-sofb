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72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99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04672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22860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B4A"/>
                </a:solidFill>
              </a:rPr>
              <a:t>HF LEHRGANG · SOFTWARE ENGINEERING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Aktivitäts-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</a:rPr>
              <a:t>Elemente · Notation · Praxis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E4EF"/>
                </a:solidFill>
              </a:rPr>
              <a:t>Unified Modeling Language  |  Lernziele: Elemente kennen · Diagramme lesen &amp; erstellen · Sinn &amp; Zweck erläutern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Lernpfad – Heutiger Unterricht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99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Was ist UML?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89280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Sinn, Zweck &amp; Geschichte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051560"/>
            <a:ext cx="2011680" cy="1325880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242316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1399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Aktivitätsdiagramm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89280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Überblick &amp; Einsatzgebiet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57200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1399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Elemente &amp; Notation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189280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Alle Bausteine im Detail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2011680" cy="1325880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6720840" y="105156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720840" y="1051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13990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Verzweigungen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189280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Entscheidungen &amp; Guards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27432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30906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Schleifen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358444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Wiederholungen modellieren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2743200"/>
            <a:ext cx="2011680" cy="1325880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0" name="Shape 28"/>
          <p:cNvSpPr/>
          <p:nvPr/>
        </p:nvSpPr>
        <p:spPr>
          <a:xfrm>
            <a:off x="2423160" y="274320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242316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23160" y="30906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Praxisbeispiel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358444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Bestellprozess komplett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2743200"/>
            <a:ext cx="2011680" cy="13258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5" name="Shape 33"/>
          <p:cNvSpPr/>
          <p:nvPr/>
        </p:nvSpPr>
        <p:spPr>
          <a:xfrm>
            <a:off x="4572000" y="2743200"/>
            <a:ext cx="2011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457200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30906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Übungsaufgaben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0" y="3584448"/>
            <a:ext cx="2011680" cy="466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4EF"/>
                </a:solidFill>
              </a:rPr>
              <a:t>Selbständig &amp; in Gruppen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· Was ist UML?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703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Unified Modeling 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Grafische Modellierungssprache für Software-Systeme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22576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47472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Standard der OMG seit 1997, aktuell Version 2.5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072384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347472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0723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14 Diagrammtypen in 2 Kategorien: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  → Strukturdiagramme (statisch)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  → Verhaltensdiagramme (dynamisch)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822192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347472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38221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Aktivitätsdiagramm = Verhaltensdiagramm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06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Warum UML in der Praxis?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14264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0368" y="1426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Gemeinsame Sprache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168249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Entwickler, Architekten &amp; Kunden verstehen dasselbe Diagramm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223113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30368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Dokumentation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4871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Anforderungen &amp; Abläufe werden präzise festgehalten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36592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0368" y="3035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Analyse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32918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Logikfehler früh erkennen, bevor Code geschrieben wird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3840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30368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Kommunikation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409651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Abstraktion über Technologien und Sprachen hinweg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· Aktivitätsdiagramm – Überblick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Definition: Ein Aktivitätsdiagramm beschreibt den Ablauf von Aktivitäten (Aktionen) innerhalb eines Systems. Es zeigt, WIE etwas abläuft – mit Verzweigungen, Schleifen und parallelen Pfaden.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272491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272491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274320" y="193852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⚙️ Geschäftsprozesse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254203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Bestellabwicklung, Genehmigungsworkflows, HR-Prozesse modellieren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938528"/>
            <a:ext cx="272491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154680" y="1938528"/>
            <a:ext cx="272491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3154680" y="193852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💻 Software-Abläufe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414016"/>
            <a:ext cx="254203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Use-Case Realisierungen, Algorithmen, API-Interaktionen dokumentieren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938528"/>
            <a:ext cx="272491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6035040" y="1938528"/>
            <a:ext cx="272491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035040" y="1938528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🧪 Testfälle ableiten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414016"/>
            <a:ext cx="2542032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Alle Pfade sichtbar machen → systematisch Testfälle generieren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8595360" cy="68580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4A"/>
                </a:solidFill>
              </a:rPr>
              <a:t>💡 Merke: Das Aktivitätsdiagramm ist kein Flussdiagramm (Flowchart) – es ist präziser, formal standardisiert und objektorientierten Prinzipien verpflichtet.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· Elemente &amp; Notation – Übersicht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22960" cy="8961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Startknoten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13258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Ausgefüllter Kreis · Einziger Einstiegspunkt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22960" cy="8961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⬛◎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Endknoten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3000" y="2331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Kreis mit Punkt · Beendet den gesamten Ablauf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22960" cy="896112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274320" y="297180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Aktion / Aktivität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Abgerundetes Rechteck · Beschriftet mit Verb + Substantiv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822960" cy="8961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274320" y="397764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Entscheidung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" y="43434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Raute · Verzweigungspunkt mit Guards [Bedingungen]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4709160" y="960120"/>
            <a:ext cx="822960" cy="8961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709160" y="96012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9601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Zusammenführung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77840" y="13258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Raute · Mehrere Pfade auf einen zusammenführen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4709160" y="1965960"/>
            <a:ext cx="822960" cy="8961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4709160" y="196596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━━━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7784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Fork (Aufspaltung)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77840" y="2331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Dicker Balken · Startet parallele Abläufe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6" name="Shape 34"/>
          <p:cNvSpPr/>
          <p:nvPr/>
        </p:nvSpPr>
        <p:spPr>
          <a:xfrm>
            <a:off x="4709160" y="2971800"/>
            <a:ext cx="822960" cy="8961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7" name="Text 35"/>
          <p:cNvSpPr/>
          <p:nvPr/>
        </p:nvSpPr>
        <p:spPr>
          <a:xfrm>
            <a:off x="4709160" y="297180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━━━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77840" y="2971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Join (Synchronisation)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577840" y="33375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Dicker Balken · Wartet auf alle parallelen Pfade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1" name="Shape 39"/>
          <p:cNvSpPr/>
          <p:nvPr/>
        </p:nvSpPr>
        <p:spPr>
          <a:xfrm>
            <a:off x="4709160" y="3977640"/>
            <a:ext cx="822960" cy="896112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2" name="Text 40"/>
          <p:cNvSpPr/>
          <p:nvPr/>
        </p:nvSpPr>
        <p:spPr>
          <a:xfrm>
            <a:off x="4709160" y="397764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77840" y="3977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Kontrollfluss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77840" y="434340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Pfeil zwischen Aktionen · Beschriftung optional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· Elemente im Detail (1/2)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Startknoten  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1508760"/>
            <a:ext cx="640080" cy="640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1984248" y="2148840"/>
            <a:ext cx="54864" cy="45720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1371600" y="2633472"/>
            <a:ext cx="1280160" cy="548640"/>
          </a:xfrm>
          <a:prstGeom prst="ellipse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1371600" y="26334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Erste Aktion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38404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Regeln: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Genau EIN Startknoten pro Diagramm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Kein eingehender Kontrollfluss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Immer ein ausgehender Pfeil zur ersten Aktion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Aktion / Aktivität  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1463040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EFF6FB"/>
          </a:solidFill>
          <a:ln w="1905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074920" y="1463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Bestellung erfassen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39128" y="1965960"/>
            <a:ext cx="54864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5074920" y="2121408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EFF6FB"/>
          </a:solidFill>
          <a:ln w="1905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5074920" y="21214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Rechnung erstellen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9128" y="2624328"/>
            <a:ext cx="54864" cy="2011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5074920" y="2779776"/>
            <a:ext cx="3383280" cy="502920"/>
          </a:xfrm>
          <a:prstGeom prst="roundRect">
            <a:avLst>
              <a:gd name="adj" fmla="val 21818"/>
            </a:avLst>
          </a:prstGeom>
          <a:solidFill>
            <a:srgbClr val="EFF6FB"/>
          </a:solidFill>
          <a:ln w="1905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074920" y="2779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E-Mail versenden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474720"/>
            <a:ext cx="402336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Regeln: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Abgerundetes Rechteck (Rounded Rectangle)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Beschriftung: Verb + Substantiv (aktiver Stil)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Genau 1 eingehend, 1 ausgehend (Ausnahme: Fork/Join)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· Elemente im Detail (2/2)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Entscheidungsknoten  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2700000">
            <a:off x="1691640" y="1508760"/>
            <a:ext cx="64008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06D6A0"/>
                </a:solidFill>
              </a:rPr>
              <a:t>[ja]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F476F"/>
                </a:solidFill>
              </a:rPr>
              <a:t>[nein]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EFF6FB"/>
          </a:solidFill>
          <a:ln w="1905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Pfad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67712" y="242316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EFF6FB"/>
          </a:solidFill>
          <a:ln w="1905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2267712" y="2423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Pfad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374904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Guards (Wächterbedingungen):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• Alle Guards in eckigen Klammern: [Bedingung]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• Summe aller Guards = vollständig &amp; disjunkt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</a:rPr>
              <a:t>• Else-Guard möglich: [else] als Auffangbedingung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66344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Aktivitätsendknoten  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444752"/>
            <a:ext cx="731520" cy="731520"/>
          </a:xfrm>
          <a:prstGeom prst="ellipse">
            <a:avLst/>
          </a:prstGeom>
          <a:solidFill>
            <a:srgbClr val="EFF6FB"/>
          </a:solidFill>
          <a:ln w="3175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6537960" y="1581912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754880" y="2359152"/>
            <a:ext cx="39776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Zwei Typen: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Aktivitätsende ⊙: Beendet den GESAMTEN Ablauf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Flussende ✕: Beendet nur EINEN Zweig (nicht alle)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Wichtig: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Mehrere Endknoten möglich (z.B. Fehler &amp; Erfolg)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• Kein ausgehender Kontrollfluss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· Verzweigungen – Decision &amp; Merge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97680" cy="3840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Beispiel: Login-Validierung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2331720" y="1783080"/>
            <a:ext cx="3657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1417320" y="2039112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1417320" y="20391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Credentials prüfen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2459736"/>
            <a:ext cx="36576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 rot="2700000">
            <a:off x="2057400" y="2743200"/>
            <a:ext cx="5029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548640" y="28163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06D6A0"/>
                </a:solidFill>
              </a:rPr>
              <a:t>[gültig]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907792" y="28163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EF476F"/>
                </a:solidFill>
              </a:rPr>
              <a:t>[ungültig]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3154680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384048" y="3154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Login OK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52928" y="3154680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EF476F">
              <a:alpha val="7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2852928" y="3154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Fehler anzeigen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rot="2700000">
            <a:off x="2057400" y="3685032"/>
            <a:ext cx="50292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2075688" y="4270248"/>
            <a:ext cx="530352" cy="530352"/>
          </a:xfrm>
          <a:prstGeom prst="ellipse">
            <a:avLst/>
          </a:prstGeom>
          <a:solidFill>
            <a:srgbClr val="EFF6F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2176272" y="43708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Regeln &amp; Best Practices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rot="2700000">
            <a:off x="4828032" y="141732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5376672" y="141732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Decision Node (Entscheidung)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Mehrere ausgehende Pfeile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9472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Jeder Pfeil hat einen Guard [...]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Guards müssen vollständig sein (alle Fälle abgedeckt)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2700000">
            <a:off x="4828032" y="3063240"/>
            <a:ext cx="457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5376672" y="30632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Merge Node (Zusammenführung)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Mehrere eingehende Pfeile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9472" y="3913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Ein ausgehender Pfeil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4261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Keine Guards am Ausgang nötig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343400"/>
            <a:ext cx="4114800" cy="384048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4828032" y="4343400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2B4A"/>
                </a:solidFill>
              </a:rPr>
              <a:t>💡 Decision und Merge verwenden dasselbe Symbol ◆ – der Unterschied liegt in der Anzahl der Pfeile!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· Schleifen in Aktivitätsdiagrammen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97680" cy="3840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Beispiel: Passwort-Eingabe (max. 3 Versuche)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2322576" y="1755648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 rot="2700000">
            <a:off x="2048256" y="1956816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322576" y="2359152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1463040" y="2560320"/>
            <a:ext cx="1828800" cy="402336"/>
          </a:xfrm>
          <a:prstGeom prst="roundRect">
            <a:avLst>
              <a:gd name="adj" fmla="val 18182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Passwort eingeben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22576" y="2962656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 rot="2700000">
            <a:off x="2048256" y="3163824"/>
            <a:ext cx="402336" cy="40233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i="1" dirty="0">
                <a:solidFill>
                  <a:srgbClr val="06D6A0"/>
                </a:solidFill>
              </a:rPr>
              <a:t>[korrekt]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22576" y="3566160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2852928" y="318211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i="1" dirty="0">
                <a:solidFill>
                  <a:srgbClr val="EF476F"/>
                </a:solidFill>
              </a:rPr>
              <a:t>[falsch &amp;</a:t>
            </a:r>
            <a:endParaRPr lang="en-US" sz="700" dirty="0"/>
          </a:p>
          <a:p>
            <a:pPr marL="0" indent="0">
              <a:buNone/>
            </a:pPr>
            <a:r>
              <a:rPr lang="en-US" sz="700" b="1" i="1" dirty="0">
                <a:solidFill>
                  <a:srgbClr val="EF476F"/>
                </a:solidFill>
              </a:rPr>
              <a:t> versuche &lt; 3]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0" y="2103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D166"/>
                </a:solidFill>
              </a:rPr>
              <a:t>↩ Rückwärtspfeil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FFD166"/>
                </a:solidFill>
              </a:rPr>
              <a:t>(Loop)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81328" y="3767328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1481328" y="37673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Zugang gewähren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93976" y="4251960"/>
            <a:ext cx="475488" cy="475488"/>
          </a:xfrm>
          <a:prstGeom prst="ellipse">
            <a:avLst/>
          </a:prstGeom>
          <a:solidFill>
            <a:srgbClr val="EFF6F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2194560" y="435254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Schleifen modellieren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389888"/>
            <a:ext cx="39319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</a:rPr>
              <a:t>Wie entsteht eine Schleife?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</a:rPr>
              <a:t>Ein Rückwärtspfeil vom Entscheidungsknoten zurück zu einer früheren Stelle im Ablauf.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286000"/>
            <a:ext cx="3931920" cy="1115568"/>
          </a:xfrm>
          <a:prstGeom prst="rect">
            <a:avLst/>
          </a:prstGeom>
          <a:solidFill>
            <a:srgbClr val="EFF6FB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Shape 26"/>
          <p:cNvSpPr/>
          <p:nvPr/>
        </p:nvSpPr>
        <p:spPr>
          <a:xfrm>
            <a:off x="4828032" y="2286000"/>
            <a:ext cx="73152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4956048" y="23225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Pre-Check Schleife (While)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263347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Entscheidung VOR dem Schleifenkörper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Bedingung zuerst prüfen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Entspricht: while (...) { }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3520440"/>
            <a:ext cx="3931920" cy="1115568"/>
          </a:xfrm>
          <a:prstGeom prst="rect">
            <a:avLst/>
          </a:prstGeom>
          <a:solidFill>
            <a:srgbClr val="EFF6FB"/>
          </a:solidFill>
          <a:ln w="12700">
            <a:solidFill>
              <a:srgbClr val="D0E4E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Shape 30"/>
          <p:cNvSpPr/>
          <p:nvPr/>
        </p:nvSpPr>
        <p:spPr>
          <a:xfrm>
            <a:off x="4828032" y="3520440"/>
            <a:ext cx="73152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4956048" y="35570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Post-Check Schleife (Do-While)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38679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Entscheidung NACH dem Schleifenkörper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Mindestens einmal ausgeführt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→ Entspricht: do { } while (...)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· Praxisbeispiel: Online-Bestellprozess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79392" y="896112"/>
            <a:ext cx="402336" cy="40233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4462272" y="1298448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474720" y="1499616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474720" y="1499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Produkt wählen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62272" y="1883664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3474720" y="2084832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474720" y="2084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 Warenkorb legen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62272" y="2468880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 rot="2700000">
            <a:off x="4224528" y="2670048"/>
            <a:ext cx="5029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2788920" y="27432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i="1" dirty="0">
                <a:solidFill>
                  <a:srgbClr val="EF476F"/>
                </a:solidFill>
              </a:rPr>
              <a:t>[Warenkorb leer]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28032" y="2743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06D6A0"/>
                </a:solidFill>
              </a:rPr>
              <a:t>[bereit]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03120" y="2084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F476F"/>
                </a:solidFill>
              </a:rPr>
              <a:t>↩ Weiter einkaufen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62272" y="3172968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6"/>
          <p:cNvSpPr/>
          <p:nvPr/>
        </p:nvSpPr>
        <p:spPr>
          <a:xfrm>
            <a:off x="3474720" y="3374136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3474720" y="3374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Bestellung aufgeben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62272" y="3758184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 rot="2700000">
            <a:off x="4224528" y="3959352"/>
            <a:ext cx="50292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4828032" y="40325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i="1" dirty="0">
                <a:solidFill>
                  <a:srgbClr val="06D6A0"/>
                </a:solidFill>
              </a:rPr>
              <a:t>[Zahlung OK]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88920" y="403250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i="1" dirty="0">
                <a:solidFill>
                  <a:srgbClr val="EF476F"/>
                </a:solidFill>
              </a:rPr>
              <a:t>[Zahlung fehlg.]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80160" y="395935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F476F">
              <a:alpha val="7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128016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Fehler melden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62272" y="4462272"/>
            <a:ext cx="3657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3474720" y="4663440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3474720" y="4663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Bestätigung senden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0" y="4462272"/>
            <a:ext cx="201168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3474720" y="4462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Bestätigung senden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15384" y="4718304"/>
            <a:ext cx="530352" cy="320040"/>
          </a:xfrm>
          <a:prstGeom prst="ellipse">
            <a:avLst/>
          </a:prstGeom>
          <a:solidFill>
            <a:srgbClr val="EFF6FB"/>
          </a:solidFill>
          <a:ln w="254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Shape 30"/>
          <p:cNvSpPr/>
          <p:nvPr/>
        </p:nvSpPr>
        <p:spPr>
          <a:xfrm>
            <a:off x="4315968" y="4773168"/>
            <a:ext cx="329184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Shape 31"/>
          <p:cNvSpPr/>
          <p:nvPr/>
        </p:nvSpPr>
        <p:spPr>
          <a:xfrm>
            <a:off x="228600" y="91440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228600" y="914400"/>
            <a:ext cx="3840480" cy="384048"/>
          </a:xfrm>
          <a:prstGeom prst="rect">
            <a:avLst/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Text 33"/>
          <p:cNvSpPr/>
          <p:nvPr/>
        </p:nvSpPr>
        <p:spPr>
          <a:xfrm>
            <a:off x="22860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Ablauf-Analyse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2608" y="13716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Startknoten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" y="16093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</a:rPr>
              <a:t>Einziger Einstiegspunkt oben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2608" y="19385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2× Entscheidung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" y="21762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</a:rPr>
              <a:t>Warenkorb prüfen + Zahlung prüfen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2608" y="250545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3232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4 Aktionen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" y="2743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</a:rPr>
              <a:t>Alle mit Verb + Substantiv benannt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2608" y="30723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3232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Fehler-Endpfad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</a:rPr>
              <a:t>Zahlung fehlgeschlagen → eigener Ast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2608" y="363931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⚫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13232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Endknoten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" y="3877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</a:rPr>
              <a:t>Ein Aktivitätsende (Erfolg)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2608" y="42062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↩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13232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</a:rPr>
              <a:t>Rückwärtspfeil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" y="44439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</a:rPr>
              <a:t>Loop: Warenkorb leer → weiter einkaufen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Bonus · Swim Lanes (Partitionen)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«Partition» Online-Shop Bestellung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16736"/>
            <a:ext cx="2865120" cy="329184"/>
          </a:xfrm>
          <a:prstGeom prst="rect">
            <a:avLst/>
          </a:prstGeom>
          <a:solidFill>
            <a:srgbClr val="D0E4EF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274320" y="1316736"/>
            <a:ext cx="286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Kunde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9440" y="1316736"/>
            <a:ext cx="2865120" cy="329184"/>
          </a:xfrm>
          <a:prstGeom prst="rect">
            <a:avLst/>
          </a:prstGeom>
          <a:solidFill>
            <a:srgbClr val="EFF6FB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139440" y="1316736"/>
            <a:ext cx="286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39440" y="1316736"/>
            <a:ext cx="18288" cy="345643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6004560" y="1316736"/>
            <a:ext cx="2865120" cy="329184"/>
          </a:xfrm>
          <a:prstGeom prst="rect">
            <a:avLst/>
          </a:prstGeom>
          <a:solidFill>
            <a:srgbClr val="D0E4EF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004560" y="1316736"/>
            <a:ext cx="286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Lager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04560" y="1316736"/>
            <a:ext cx="18288" cy="345643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502920" y="1828800"/>
            <a:ext cx="237744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0292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Bestellung aufgeben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64992" y="2331720"/>
            <a:ext cx="237744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3364992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Zahlung verarbeiten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2834640"/>
            <a:ext cx="237744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236208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Artikel kommissionieren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3337560"/>
            <a:ext cx="237744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3364992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Versandlabel erstellen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2377440" cy="384048"/>
          </a:xfrm>
          <a:prstGeom prst="roundRect">
            <a:avLst>
              <a:gd name="adj" fmla="val 21429"/>
            </a:avLst>
          </a:prstGeom>
          <a:solidFill>
            <a:srgbClr val="0090B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Versandbenachrichtigung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402336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365760" y="43434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A"/>
                </a:solidFill>
              </a:rPr>
              <a:t>💡 Swim Lanes zeigen, WER für welche Aktion zuständig ist – ideal für Geschäftsprozesse mit mehreren Rollen.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6583680" y="3200400"/>
            <a:ext cx="2926080" cy="29260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07 · Übungsaufgaben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</a:rPr>
              <a:t>Jetzt seid ihr dran!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A1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920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Diagramm lesen &amp; analysieren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2240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4EF"/>
                </a:solidFill>
              </a:rPr>
              <a:t>Einzel  ·  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8412480" cy="640080"/>
          </a:xfrm>
          <a:prstGeom prst="rect">
            <a:avLst/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65760" y="26700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A2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6700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Einfacher Ablauf selbst zeichnen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670048"/>
            <a:ext cx="2240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4EF"/>
                </a:solidFill>
              </a:rPr>
              <a:t>Einzel  ·  20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19856"/>
            <a:ext cx="8412480" cy="640080"/>
          </a:xfrm>
          <a:prstGeom prst="rect">
            <a:avLst/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365760" y="34198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A3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41985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Komplexer Prozess mit Schleifen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419856"/>
            <a:ext cx="2240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4EF"/>
                </a:solidFill>
              </a:rPr>
              <a:t>Gruppe  ·  25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8412480" cy="640080"/>
          </a:xfrm>
          <a:prstGeom prst="rect">
            <a:avLst/>
          </a:prstGeom>
          <a:solidFill>
            <a:srgbClr val="243B5E"/>
          </a:solidFill>
          <a:ln w="12700">
            <a:solidFill>
              <a:srgbClr val="243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5486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365760" y="41696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A4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16966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Fehler im Diagramm finden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169664"/>
            <a:ext cx="2240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0E4EF"/>
                </a:solidFill>
              </a:rPr>
              <a:t>Gruppe  ·  15 Min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Zusammenfassung – Was wir gelernt haben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731520" cy="713232"/>
          </a:xfrm>
          <a:prstGeom prst="rect">
            <a:avLst/>
          </a:prstGeom>
          <a:solidFill>
            <a:srgbClr val="0090B0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9601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UML = gemeinsame Sprache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96012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Standard-Notation für Software-Systeme; unabhängig von Programmiersprache oder Technologie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73152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74320" y="176479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76479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Aktivitätsdiagramm = Ablauf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76479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Beschreibt WIE etwas abläuft – mit Aktionen, Entscheidungen und parallelen Pfaden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274320" y="2569464"/>
            <a:ext cx="731520" cy="713232"/>
          </a:xfrm>
          <a:prstGeom prst="rect">
            <a:avLst/>
          </a:prstGeom>
          <a:solidFill>
            <a:srgbClr val="0090B0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274320" y="256946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●→◆⊙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56946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8 Kernelemente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6946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Start · Aktion · Entscheidung (◆) · Merge (◆) · Fork · Join · Fluss (→) · Ende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274320" y="3374136"/>
            <a:ext cx="73152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274320" y="337413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37413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Verzweigung = Guards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37413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Alle Guards müssen vollständig &amp; disjunkt sein; Decision und Merge nutzen dasselbe Symbol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78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274320" y="4178808"/>
            <a:ext cx="731520" cy="713232"/>
          </a:xfrm>
          <a:prstGeom prst="rect">
            <a:avLst/>
          </a:prstGeom>
          <a:solidFill>
            <a:srgbClr val="0090B0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274320" y="417880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41788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Schleifen = Rückwärtspfeil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417880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Pre-Check (while) und Post-Check (do-while) durch Position der Entscheidungsraute unterscheidbar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Text 29"/>
          <p:cNvSpPr/>
          <p:nvPr/>
        </p:nvSpPr>
        <p:spPr>
          <a:xfrm>
            <a:off x="274320" y="4828032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A"/>
                </a:solidFill>
              </a:rPr>
              <a:t>Unterrichtsmaterial &amp; Übungsaufgaben → separates Begleitdokument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Office PowerPoint</Application>
  <PresentationFormat>Bildschirmpräsentation (16:9)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Aktivitätsdiagramm – Unterricht HF</dc:title>
  <dc:subject>PptxGenJS Presentation</dc:subject>
  <dc:creator>PptxGenJS</dc:creator>
  <cp:lastModifiedBy>Lukas Müller</cp:lastModifiedBy>
  <cp:revision>1</cp:revision>
  <dcterms:created xsi:type="dcterms:W3CDTF">2026-03-22T14:24:25Z</dcterms:created>
  <dcterms:modified xsi:type="dcterms:W3CDTF">2026-03-22T14:32:44Z</dcterms:modified>
</cp:coreProperties>
</file>