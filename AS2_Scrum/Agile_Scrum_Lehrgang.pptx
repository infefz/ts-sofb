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84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84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7A8A">
              <a:alpha val="30000"/>
            </a:srgbClr>
          </a:solidFill>
          <a:ln w="12700">
            <a:solidFill>
              <a:srgbClr val="0D7A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2B886">
              <a:alpha val="25000"/>
            </a:srgbClr>
          </a:solidFill>
          <a:ln w="12700">
            <a:solidFill>
              <a:srgbClr val="12B88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Softwareentwicklung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Scrum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Lehrgang · Praxisorientiertes Unterrichtsmaterial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Lernziele des Lehrgangs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diesem Lehrgang können die Studierenden 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2062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73152" cy="12344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Verstehen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 und Zweck agiler Softwareentwicklung erklären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2062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73152" cy="12344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Anwenden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praktisches Projekt nach agilen Prinzipien realisieren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062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73152" cy="12344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Kennen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Rollen, Events und Artefakte von Scrum benennen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2062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73152" cy="12344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Umsetzen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Projektvorhaben mit Scrum strukturieren und durchführen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7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Grundlagen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klassische Methoden oft scheitern – und was die Lösung ist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Wasserfallmodell – und seine Grenzen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46304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170432"/>
            <a:ext cx="146304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1965960" y="1170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426464"/>
            <a:ext cx="146304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3657600" y="142646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682496"/>
            <a:ext cx="146304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5349240" y="1682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938528"/>
            <a:ext cx="146304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7040880" y="19385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914400"/>
            <a:ext cx="3657600" cy="3383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534924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Typische Probleme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4173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teuer &amp; spät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Kundenfeedback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erst am Ende sichtbar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"Big Bang" Lieferung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Grosse Projekte liefern 66% zu spät oder zu teuer (Standish Chaos Report)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Agile Manifest (2001)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Entwickler formulierten in Snowbird, Utah, vier Kernwerte: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3840480" cy="6858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Individuen &amp; Interaktionen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69080" y="13258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840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Prozesse &amp; Werkzeuge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2176272"/>
            <a:ext cx="3840480" cy="6858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74320" y="21762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 Software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217627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76272"/>
            <a:ext cx="3840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937760" y="21762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umfassende Dokumentation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" y="3026664"/>
            <a:ext cx="3840480" cy="6858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274320" y="302666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Kundenzusammenarbeit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69080" y="3026664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026664"/>
            <a:ext cx="3840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937760" y="302666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Vertragsverhandlungen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" y="3877056"/>
            <a:ext cx="3840480" cy="6858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274320" y="387705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Änderungen reagieren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3877056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877056"/>
            <a:ext cx="3840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4937760" y="387705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einem Plan folgen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12 Prinzipien des Agilen Manifests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Kundenzufriedenheit durch frühzeitige &amp; kontinuierliche Lieferung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773936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228600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3677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willkommen heissen – auch spät im Projekt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450592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286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134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 Software häufig liefern (Wochen, nicht Monate)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127248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22860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900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 Zusammenarbeit zwischen Entwicklern &amp; Fachleuten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803904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22860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66674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Motivierte Individuen fördern, Vertrauen schenken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480560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228600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Kommunikation bevorzugen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466344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9601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 Software = Hauptmass für Fortschritt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773936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4663440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163677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Nachhaltige Entwicklung – konstantem Tempo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450592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46634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23134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Exzellenz &amp; gutes Design fördern Agilität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127248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466344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9900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Einfachheit: das Meiste nicht Erledigte maximieren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803904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466344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66674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Selbstorganisierende Teams produzieren beste Ergebnisse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480560"/>
            <a:ext cx="347472" cy="347472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9" name="Text 37"/>
          <p:cNvSpPr/>
          <p:nvPr/>
        </p:nvSpPr>
        <p:spPr>
          <a:xfrm>
            <a:off x="4663440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4343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Regelmässige Reflexion &amp; Anpassung des Vorgehens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 vs. Wasserfall – Vergleich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22960"/>
          <a:ext cx="8229600" cy="2275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Wasserfall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 am Anfang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Iterativ, rollend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 definiert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Veränderbar, priorisiert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Lieferung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Projektende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Regelmässig (Sprints)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Kundenbeteiligung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Anfang &amp; Ende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Kontinuierlich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 (spät erkannt)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 (früh erkannt)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Umfangreich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viel wie nötig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Teamstruktur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Selbstorganisiert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7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Praxisübung: Agiles Arbeiten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ein Projekt agil planen und umsetzen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1: Agile Planung – «Pizzeria App»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seid ein 3–4-köpfiges Entwicklungsteam. Eine lokale Pizzeria möchte eine Online-Bestellapp. Der Kunde weiss noch nicht genau, was er will.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874520"/>
            <a:ext cx="87782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320040" y="19476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Schritt 1 (10 Min.)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91109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 mindestens 8 User Stories im Format: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«Als [Rolle] möchte ich [Funktion], damit [Nutzen].»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2642616"/>
            <a:ext cx="877824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20040" y="2715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Schritt 2 (10 Min.)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679192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Priorisiert eure Stories mit MoSCoW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(Must / Should / Could / Won't have)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3410712"/>
            <a:ext cx="87782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320040" y="34838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Schritt 3 (10 Min.)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4472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euren ersten Sprint (2 Wochen):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Stories nehmt ihr in Sprint 1?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4178808"/>
            <a:ext cx="877824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32004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Schritt 4 (5 Min.)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4215384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Präsentiert euren Plan der Klasse.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habt ihr gelernt?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richtig schreiben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«Als [Rolle] möchte ich [Funktion/Ziel], damit [Nutzen/Begründung].»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Gutes Beispiel 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023360" cy="1188720"/>
          </a:xfrm>
          <a:prstGeom prst="rect">
            <a:avLst/>
          </a:prstGeom>
          <a:solidFill>
            <a:srgbClr val="E8F8F4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Kunde möchte ich meine Bestellung online aufgeben, damit ich nicht anrufen muss und die Bestellung jederzeit aufgeben kann.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Schlechtes Beispiel 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4023360" cy="118872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soll eine Datenbankanbindung für Bestellungen haben.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Qualitätskriterien – INVEST: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069080"/>
            <a:ext cx="502920" cy="50292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" y="46177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19072" y="4069080"/>
            <a:ext cx="502920" cy="50292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171907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36192" y="46177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63824" y="4069080"/>
            <a:ext cx="502920" cy="50292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163824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80944" y="46177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4069080"/>
            <a:ext cx="502920" cy="50292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4608576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25696" y="46177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4069080"/>
            <a:ext cx="502920" cy="50292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605332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70448" y="46177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4069080"/>
            <a:ext cx="502920" cy="50292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7498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46177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7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 in Scrum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meistgenutzte agile Framework im Detail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Scrum?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ist ein leichtgewichtiges Framework, um komplexe Produkte iterativ zu entwickeln.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64008" cy="82296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Entstehung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 von Ken Schwaber &amp; Jeff Sutherland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64008" cy="82296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828032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Grundlage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Scrum Guide (kostenlos, scrumguides.org)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441448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182880" y="2441448"/>
            <a:ext cx="64008" cy="82296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347472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Verbreitung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2807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Meistgenutztes agiles Framework weltweit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441448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4663440" y="2441448"/>
            <a:ext cx="64008" cy="82296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828032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Kernidee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807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Adapt: regelmässig überprüfen und anpassen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3465576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182880" y="3465576"/>
            <a:ext cx="64008" cy="82296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347472" y="3511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Rhythmus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3831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von 1–4 Wochen (meist 2 Wochen)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465576"/>
            <a:ext cx="42519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4663440" y="3465576"/>
            <a:ext cx="64008" cy="82296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4828032" y="3511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Teamgrösse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831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 3–9 Personen im Scrum Team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 Scrum-Rollen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78892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788920" cy="5943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82880" y="8229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14173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 für das Produkt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Pflegt den Product Backlog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Priorisiert Anforderungen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Vertritt die Stakeholder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Definiert Akzeptanzkriterien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78892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788920" cy="59436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172968" y="8229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2968" y="14173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10128" y="21031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 Leader des Teams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Entfernt Impediments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Schützt das Team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Fördert Scrum-Verständnis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Moderiert Scrum Events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822960"/>
            <a:ext cx="278892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6163056" y="822960"/>
            <a:ext cx="278892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163056" y="8229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63056" y="14173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00216" y="21031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Umsetzt den Sprint Backlog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Selbstorganisierend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 für Qualität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einhalten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Schätzt Aufwände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 Scrum-Artefakte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78892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182880" y="8046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353312"/>
            <a:ext cx="278892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292608" y="141732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Geordnete Liste aller bekannten Anforderungen ans Produkt. Wird vom Product Owner gepflegt und priorisiert.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423160"/>
            <a:ext cx="257860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Epics, Tasks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Priorisiert nach Geschäftswert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Lebt und verändert sich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Produktziel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804672"/>
            <a:ext cx="2788920" cy="5486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172968" y="8046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72968" y="1353312"/>
            <a:ext cx="278892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3282696" y="141732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Auswahl aus dem Product Backlog, die das Team im aktuellen Sprint umsetzen will.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82696" y="2423160"/>
            <a:ext cx="257860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Ausgewählt vom Dev-Team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in Stunden/Tage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 für alle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Sprint-Ziel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804672"/>
            <a:ext cx="2788920" cy="54864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163056" y="8046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63056" y="1353312"/>
            <a:ext cx="278892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272784" y="141732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potenziell auslieferbare Produkt am Ende jeden Sprints. Muss der DoD entsprechen.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2784" y="2423160"/>
            <a:ext cx="257860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Potenziell auslieferbar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erfüllt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Addiert sich auf frühere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DoD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fünf Scrum-Events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877824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932688"/>
            <a:ext cx="146304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2743200" y="932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Wochen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43400" y="914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Herzstück von Scrum – container für alle anderen Events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45920"/>
            <a:ext cx="877824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755648"/>
            <a:ext cx="146304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274320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8h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 im Sprint gemacht? Wie wird es umgesetzt?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2468880"/>
            <a:ext cx="877824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32004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146304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2743200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Min. täglich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2560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Synchronisation: Was tat ich gestern? Was tue ich heute? Hindernisse?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3291840"/>
            <a:ext cx="877824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20040" y="3364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3401568"/>
            <a:ext cx="146304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274320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4h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3383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begutachten das Increment, Backlog wird angepasst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4114800"/>
            <a:ext cx="877824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320040" y="41879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Retrospektive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4224528"/>
            <a:ext cx="146304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2743200" y="4224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3h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4206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reflektiert Prozess: Was lief gut? Was verbessern wir?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Sprint-Zyklus im Überblick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6002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3716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03120" y="1371600"/>
            <a:ext cx="160020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2103120" y="13716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13716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60020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749040" y="13716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3716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94960" y="1371600"/>
            <a:ext cx="1600200" cy="100584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394960" y="13716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13716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16002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7040880" y="13716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2514600"/>
            <a:ext cx="1600200" cy="438912"/>
          </a:xfrm>
          <a:prstGeom prst="rect">
            <a:avLst/>
          </a:prstGeom>
          <a:solidFill>
            <a:srgbClr val="D8F3EF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5394960" y="25146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(täglich)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3063240"/>
            <a:ext cx="1600200" cy="438912"/>
          </a:xfrm>
          <a:prstGeom prst="rect">
            <a:avLst/>
          </a:prstGeom>
          <a:solidFill>
            <a:srgbClr val="D8F3EF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394960" y="3063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3611880"/>
            <a:ext cx="1600200" cy="438912"/>
          </a:xfrm>
          <a:prstGeom prst="rect">
            <a:avLst/>
          </a:prstGeom>
          <a:solidFill>
            <a:srgbClr val="D8F3EF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5394960" y="36118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Adapt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jedem Sprint: Produkt anpassen (Review) und Prozess verbessern (Retro)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(DoD)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DoD ist eine gemeinsam vereinbarte Liste von Qualitätskriterien, die ein Increment erfüllen muss.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Beispiel-DoD für ein Web-Projekt: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206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Code wurde reviewed (Peer Review)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95728"/>
            <a:ext cx="4206240" cy="457200"/>
          </a:xfrm>
          <a:prstGeom prst="rect">
            <a:avLst/>
          </a:prstGeom>
          <a:solidFill>
            <a:srgbClr val="EDF7F4"/>
          </a:solidFill>
          <a:ln w="12700">
            <a:solidFill>
              <a:srgbClr val="EDF7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Unit Tests geschrieben &amp; alle grün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62656"/>
            <a:ext cx="4206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65760" y="29626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Integration Tests bestanden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29584"/>
            <a:ext cx="4206240" cy="457200"/>
          </a:xfrm>
          <a:prstGeom prst="rect">
            <a:avLst/>
          </a:prstGeom>
          <a:solidFill>
            <a:srgbClr val="EDF7F4"/>
          </a:solidFill>
          <a:ln w="12700">
            <a:solidFill>
              <a:srgbClr val="EDF7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365760" y="3529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Akzeptanzkriterien der User Story erfüllt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4206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Keine offenen P1-Bugs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395728"/>
            <a:ext cx="4206240" cy="457200"/>
          </a:xfrm>
          <a:prstGeom prst="rect">
            <a:avLst/>
          </a:prstGeom>
          <a:solidFill>
            <a:srgbClr val="EDF7F4"/>
          </a:solidFill>
          <a:ln w="12700">
            <a:solidFill>
              <a:srgbClr val="EDF7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754880" y="2395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Dokumentation aktualisiert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62656"/>
            <a:ext cx="4206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754880" y="29626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Code in main-Branch gemergt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529584"/>
            <a:ext cx="4206240" cy="457200"/>
          </a:xfrm>
          <a:prstGeom prst="rect">
            <a:avLst/>
          </a:prstGeom>
          <a:solidFill>
            <a:srgbClr val="EDF7F4"/>
          </a:solidFill>
          <a:ln w="12700">
            <a:solidFill>
              <a:srgbClr val="EDF7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4754880" y="3529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Auf Test-Umgebung deployed &amp; getestet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Tipp: Die DoD gilt für das gesamte Team – nicht für einzelne Stories.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7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in der Praxis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setzt ein Projekt mit Scrum um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2: Scrum-Projekt «Task-Management-App»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Projektziel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entwickelt eine einfache Task-Management-App (z. B. Konsole oder Web-GUI). Das Projekt dauert 3 Sprints à 1 Woche (simuliert).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828800"/>
            <a:ext cx="1371600" cy="8229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18288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1828800"/>
            <a:ext cx="7406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1691640" y="1883664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Grundfunktionen: Tasks erstellen, anzeigen, löschen.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erstellen, Sprint Planning durchführen.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1371600" cy="8229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18288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2834640"/>
            <a:ext cx="7406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1691640" y="2889504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Erweiterte Features: Prioritäten, Fälligkeitsdaten, Filter.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simulieren, Impediments dokumentieren.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3840480"/>
            <a:ext cx="1371600" cy="8229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182880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54480" y="3840480"/>
            <a:ext cx="7406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1691640" y="3895344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 &amp; UI-Verbesserungen. Sprint Review &amp; Retro.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 des Increments vor der Klasse.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werden im Team per Los oder Absprache verteilt. Alle Scrum Events finden statt!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Scrum/Kanban-Board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Visualisiert euren Fortschritt mit einem physischen oder digitalen Board: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1645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828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Backlog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691640"/>
            <a:ext cx="1645920" cy="2743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1938528" y="1234440"/>
            <a:ext cx="1645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1938528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To 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38528" y="1691640"/>
            <a:ext cx="1645920" cy="2743200"/>
          </a:xfrm>
          <a:prstGeom prst="rect">
            <a:avLst/>
          </a:prstGeom>
          <a:solidFill>
            <a:srgbClr val="FFF9E6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3694176" y="1234440"/>
            <a:ext cx="1645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3694176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In Progress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94176" y="1691640"/>
            <a:ext cx="1645920" cy="2743200"/>
          </a:xfrm>
          <a:prstGeom prst="rect">
            <a:avLst/>
          </a:prstGeom>
          <a:solidFill>
            <a:srgbClr val="E8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5449824" y="1234440"/>
            <a:ext cx="1645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5449824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9824" y="1691640"/>
            <a:ext cx="1645920" cy="2743200"/>
          </a:xfrm>
          <a:prstGeom prst="rect">
            <a:avLst/>
          </a:prstGeom>
          <a:solidFill>
            <a:srgbClr val="FF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7205472" y="1234440"/>
            <a:ext cx="1645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7205472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05472" y="1691640"/>
            <a:ext cx="1645920" cy="2743200"/>
          </a:xfrm>
          <a:prstGeom prst="rect">
            <a:avLst/>
          </a:prstGeom>
          <a:solidFill>
            <a:srgbClr val="E8FF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228600" y="178308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301752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exportieren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84248" y="178308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2057400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Login-Screen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84248" y="246888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2057400" y="25420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DB-Schema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39896" y="178308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3813048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erstellen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95544" y="178308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5568696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löschen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51192" y="178308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7324344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51192" y="246888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4" name="Text 32"/>
          <p:cNvSpPr/>
          <p:nvPr/>
        </p:nvSpPr>
        <p:spPr>
          <a:xfrm>
            <a:off x="7324344" y="25420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Auth-Modul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Tools: Jira, Azure DevOps, Trello, Notion oder ein physisches Whiteboard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Schätzungen &amp; Velocity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(relative Schätzung)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Fibonacci-Skala: 1, 2, 3, 5, 8, 13, 21...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 zur einfachsten 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Aufwand, Komplexität &amp; Risiko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für gemeinsame Schätzung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2084832"/>
            <a:ext cx="594360" cy="9326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846320" y="18105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0358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773936"/>
            <a:ext cx="594360" cy="12435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5623560" y="14996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30358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9384"/>
            <a:ext cx="594360" cy="108813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400800" y="16550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0358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1670304"/>
            <a:ext cx="594360" cy="134721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7178040" y="13959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30358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1566672"/>
            <a:ext cx="594360" cy="1450848"/>
          </a:xfrm>
          <a:prstGeom prst="rect">
            <a:avLst/>
          </a:prstGeom>
          <a:solidFill>
            <a:srgbClr val="12B886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7955280" y="1292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0358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/ Sprint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Velocity hilft dem Team, realistisch zu planen – nicht als KPI für Druck zu nutzen!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4572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32004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" y="3566160"/>
            <a:ext cx="4572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86868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417320" y="3566160"/>
            <a:ext cx="4572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141732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965960" y="3566160"/>
            <a:ext cx="4572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4" name="Text 32"/>
          <p:cNvSpPr/>
          <p:nvPr/>
        </p:nvSpPr>
        <p:spPr>
          <a:xfrm>
            <a:off x="196596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14600" y="3566160"/>
            <a:ext cx="4572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251460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063240" y="3566160"/>
            <a:ext cx="4572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8" name="Text 36"/>
          <p:cNvSpPr/>
          <p:nvPr/>
        </p:nvSpPr>
        <p:spPr>
          <a:xfrm>
            <a:off x="306324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11880" y="3566160"/>
            <a:ext cx="4572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0" name="Text 38"/>
          <p:cNvSpPr/>
          <p:nvPr/>
        </p:nvSpPr>
        <p:spPr>
          <a:xfrm>
            <a:off x="361188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Retrospektiven – Formate &amp; Methoden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Retrospektive ist das mächtigste Scrum-Event – hier wird der Prozess verbessert.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8778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73152" cy="10972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/ Continue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sollen wir anfangen? Was aufhören? Was beibehalten?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2514600"/>
            <a:ext cx="8778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182880" y="2514600"/>
            <a:ext cx="73152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Ls: Liked / Learned / Lacked / Longed for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mochten wir? Was haben wir gelernt? Was fehlte? Was wünschen wir uns?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3749040"/>
            <a:ext cx="87782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182880" y="3749040"/>
            <a:ext cx="73152" cy="109728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11480" y="38221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Segelboot / Speedboat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42245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(hilft) vs. Anker (bremst) – visualisiert Hindernisse &amp; Treiber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Ablauf: 1. Daten sammeln → 2. Erkenntnisse gewinnen → 3. Massnahmen planen → 4. Schliessen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7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Häufige Fehler &amp; Best Practices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 der Praxis oft schiefläuft – und wie ihr es besser macht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Häufige Scrum-Antipatterns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51960" cy="12344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292608" y="896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Scrum Master als Projektleiter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2984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SM gibt Aufgaben vor statt das Team zu coachen → Selbstorganisation wird untergraben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51960" cy="12344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773168" y="896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Story Points als Leistungsmass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2984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wird zum KPI → Teams "inflatieren" Schätzungen statt ehrlich zu sein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240280"/>
            <a:ext cx="4251960" cy="12344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92608" y="2313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Sprint als Frist für alles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" y="27157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werden am letzten Tag "fertig gemacht" – Qualität leidet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251960" cy="12344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773168" y="2313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Kein echter Product Owner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27157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ist nicht erreichbar oder delegiert Entscheidungen → Backlog stagniert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657600"/>
            <a:ext cx="4251960" cy="12344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292608" y="3730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Zu grosser Product Backlog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" y="413308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Hunderte Stories, keine Priorisierung → Team verliert den Fokus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657600"/>
            <a:ext cx="4251960" cy="12344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4773168" y="3730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Sprint-Abbrüche ohne Grund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413308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Häufige Abbrüche destabilisieren das Team und untergraben Scrum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für erfolgreiches Scrum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51960" cy="365760"/>
          </a:xfrm>
          <a:prstGeom prst="rect">
            <a:avLst/>
          </a:prstGeom>
          <a:solidFill>
            <a:srgbClr val="E8F8F4"/>
          </a:solidFill>
          <a:ln w="12700">
            <a:solidFill>
              <a:srgbClr val="E8F8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56032" y="896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595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Sprint-Ziel klarer formulieren als nur eine Liste von Stories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261872"/>
            <a:ext cx="42519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256032" y="1335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29844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 regelmässig durchführen (10% der Kapazität)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700784"/>
            <a:ext cx="4251960" cy="365760"/>
          </a:xfrm>
          <a:prstGeom prst="rect">
            <a:avLst/>
          </a:prstGeom>
          <a:solidFill>
            <a:srgbClr val="E8F8F4"/>
          </a:solidFill>
          <a:ln w="12700">
            <a:solidFill>
              <a:srgbClr val="E8F8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256032" y="1773936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256032" y="1773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17373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Team-Commitment statt individueller Verpflichtungen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139696"/>
            <a:ext cx="42519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256032" y="2212848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256032" y="2212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1762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konsequent einhalten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578608"/>
            <a:ext cx="4251960" cy="365760"/>
          </a:xfrm>
          <a:prstGeom prst="rect">
            <a:avLst/>
          </a:prstGeom>
          <a:solidFill>
            <a:srgbClr val="E8F8F4"/>
          </a:solidFill>
          <a:ln w="12700">
            <a:solidFill>
              <a:srgbClr val="E8F8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256032" y="2651760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256032" y="2651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61518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Impediments sofort und sichtbar machen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822960"/>
            <a:ext cx="42519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4736592" y="896112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4736592" y="896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8595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aktiv im Backlog führen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261872"/>
            <a:ext cx="4251960" cy="365760"/>
          </a:xfrm>
          <a:prstGeom prst="rect">
            <a:avLst/>
          </a:prstGeom>
          <a:solidFill>
            <a:srgbClr val="E8F8F4"/>
          </a:solidFill>
          <a:ln w="12700">
            <a:solidFill>
              <a:srgbClr val="E8F8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Shape 28"/>
          <p:cNvSpPr/>
          <p:nvPr/>
        </p:nvSpPr>
        <p:spPr>
          <a:xfrm>
            <a:off x="4736592" y="1335024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4736592" y="1335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129844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früh und regelmässig einbinden (Sprint Review)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700784"/>
            <a:ext cx="42519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4736592" y="1773936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4736592" y="1773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17373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Retrospektive-Massnahmen nachverfolgen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139696"/>
            <a:ext cx="4251960" cy="365760"/>
          </a:xfrm>
          <a:prstGeom prst="rect">
            <a:avLst/>
          </a:prstGeom>
          <a:solidFill>
            <a:srgbClr val="E8F8F4"/>
          </a:solidFill>
          <a:ln w="12700">
            <a:solidFill>
              <a:srgbClr val="E8F8F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8" name="Shape 36"/>
          <p:cNvSpPr/>
          <p:nvPr/>
        </p:nvSpPr>
        <p:spPr>
          <a:xfrm>
            <a:off x="4736592" y="2212848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9" name="Text 37"/>
          <p:cNvSpPr/>
          <p:nvPr/>
        </p:nvSpPr>
        <p:spPr>
          <a:xfrm>
            <a:off x="4736592" y="2212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21762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Teamkonstanz – keine ständigen Personalwechsel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578608"/>
            <a:ext cx="42519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2" name="Shape 40"/>
          <p:cNvSpPr/>
          <p:nvPr/>
        </p:nvSpPr>
        <p:spPr>
          <a:xfrm>
            <a:off x="4736592" y="2651760"/>
            <a:ext cx="219456" cy="219456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3" name="Text 41"/>
          <p:cNvSpPr/>
          <p:nvPr/>
        </p:nvSpPr>
        <p:spPr>
          <a:xfrm>
            <a:off x="4736592" y="2651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261518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Psychologische Sicherheit im Team aufbauen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D7A8A">
              <a:alpha val="20000"/>
            </a:srgbClr>
          </a:solidFill>
          <a:ln w="12700">
            <a:solidFill>
              <a:srgbClr val="0D7A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Agile Entwicklung antwortet auf die Grenzen klassischer Methoden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Das Agile Manifest: 4 Werte, 12 Prinzipien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Scrum: 3 Rollen · 3 Artefakte · 5 Events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8094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Sprints liefern regelmässig wertvolle Increments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Inspect &amp; Adapt ist der Kern – Teams lernen kontinuierlich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Praktische Erfahrung ist der beste Lehrmeister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«The best architectures, requirements and designs emerge from self-organizing teams.»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Agile Manifesto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Weiterführende Ressourcen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519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4251960" cy="4114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9260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Primärquellen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2801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scrumguides.org – Der offizielle Scrum Guide (gratis)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agilemanifesto.org – Das Agile Manifest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519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51960" cy="4114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77316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Bücher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2801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The Art of Doing Twice the Work in Half the Time – Jeff Sutherland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 – Jeff Patton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Estimating and Planning – Mike Cohn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971800"/>
            <a:ext cx="42519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182880" y="2971800"/>
            <a:ext cx="4251960" cy="4114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292608" y="2971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(kostenlos)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" y="34290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(Atlassian) – umfassendes Scrum-Tool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– einfaches Kanban-Board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– für .NET-Teams ideal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2519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251960" cy="41148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773168" y="2971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Zertifizierungen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73168" y="34290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Scrum Master (PSM I) – scrum.org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ScrumMaster (CSM) – ScrumAlliance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</Words>
  <Application>Microsoft Office PowerPoint</Application>
  <PresentationFormat>Bildschirmpräsentation (16:9)</PresentationFormat>
  <Paragraphs>389</Paragraphs>
  <Slides>27</Slides>
  <Notes>27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Softwareentwicklung &amp; Scrum</dc:title>
  <dc:subject>PptxGenJS Presentation</dc:subject>
  <dc:creator>HF Lehrgang</dc:creator>
  <cp:lastModifiedBy>Lukas Müller</cp:lastModifiedBy>
  <cp:revision>1</cp:revision>
  <dcterms:created xsi:type="dcterms:W3CDTF">2026-03-22T16:46:32Z</dcterms:created>
  <dcterms:modified xsi:type="dcterms:W3CDTF">2026-03-22T17:46:48Z</dcterms:modified>
</cp:coreProperties>
</file>